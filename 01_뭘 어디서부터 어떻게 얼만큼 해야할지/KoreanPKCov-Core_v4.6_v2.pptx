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KoreanPKCov-Core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38988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v4.6 — PI-ready Final Launch Playbook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956816"/>
            <a:ext cx="804672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848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한국인 약동학 시뮬레이션을 위한 공개 공변량 엔진 — 72시간 안에 핵심 가설을 검증합니다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554480" cy="658368"/>
          </a:xfrm>
          <a:prstGeom prst="rect">
            <a:avLst/>
          </a:prstGeom>
          <a:solidFill>
            <a:srgbClr val="24316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651760"/>
            <a:ext cx="15544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2491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왜 필요한가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05409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갭과 문제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95728" y="2651760"/>
            <a:ext cx="1554480" cy="658368"/>
          </a:xfrm>
          <a:prstGeom prst="rect">
            <a:avLst/>
          </a:prstGeom>
          <a:solidFill>
            <a:srgbClr val="24316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95728" y="2651760"/>
            <a:ext cx="1554480" cy="54864"/>
          </a:xfrm>
          <a:prstGeom prst="rect">
            <a:avLst/>
          </a:prstGeom>
          <a:solidFill>
            <a:srgbClr val="5B6FBF"/>
          </a:solidFill>
          <a:ln/>
        </p:spPr>
      </p:sp>
      <p:sp>
        <p:nvSpPr>
          <p:cNvPr id="13" name="Text 11"/>
          <p:cNvSpPr/>
          <p:nvPr/>
        </p:nvSpPr>
        <p:spPr>
          <a:xfrm>
            <a:off x="2395728" y="272491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무엇인가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95728" y="305409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정체성·경계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59936" y="2651760"/>
            <a:ext cx="1554480" cy="658368"/>
          </a:xfrm>
          <a:prstGeom prst="rect">
            <a:avLst/>
          </a:prstGeom>
          <a:solidFill>
            <a:srgbClr val="24316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059936" y="2651760"/>
            <a:ext cx="1554480" cy="54864"/>
          </a:xfrm>
          <a:prstGeom prst="rect">
            <a:avLst/>
          </a:prstGeom>
          <a:solidFill>
            <a:srgbClr val="E9883A"/>
          </a:solidFill>
          <a:ln/>
        </p:spPr>
      </p:sp>
      <p:sp>
        <p:nvSpPr>
          <p:cNvPr id="17" name="Text 15"/>
          <p:cNvSpPr/>
          <p:nvPr/>
        </p:nvSpPr>
        <p:spPr>
          <a:xfrm>
            <a:off x="4059936" y="272491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왜 될 것 같나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59936" y="305409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현실성 근거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724144" y="2651760"/>
            <a:ext cx="1554480" cy="658368"/>
          </a:xfrm>
          <a:prstGeom prst="rect">
            <a:avLst/>
          </a:prstGeom>
          <a:solidFill>
            <a:srgbClr val="24316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24144" y="2651760"/>
            <a:ext cx="1554480" cy="5486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21" name="Text 19"/>
          <p:cNvSpPr/>
          <p:nvPr/>
        </p:nvSpPr>
        <p:spPr>
          <a:xfrm>
            <a:off x="5724144" y="272491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성공/실패 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24144" y="305409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임팩트·방어선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88352" y="2651760"/>
            <a:ext cx="1554480" cy="658368"/>
          </a:xfrm>
          <a:prstGeom prst="rect">
            <a:avLst/>
          </a:prstGeom>
          <a:solidFill>
            <a:srgbClr val="24316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88352" y="2651760"/>
            <a:ext cx="155448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7388352" y="272491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어떻게 실현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88352" y="305409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액션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3493008"/>
            <a:ext cx="8046720" cy="1353312"/>
          </a:xfrm>
          <a:prstGeom prst="rect">
            <a:avLst/>
          </a:prstGeom>
          <a:solidFill>
            <a:srgbClr val="243166"/>
          </a:solidFill>
          <a:ln/>
          <a:effectLst>
            <a:outerShdw sx="100000" sy="100000" kx="0" ky="0" algn="bl" rotWithShape="0" blurRad="1524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1520" y="3493008"/>
            <a:ext cx="8046720" cy="1353312"/>
          </a:xfrm>
          <a:prstGeom prst="rect">
            <a:avLst/>
          </a:prstGeom>
          <a:noFill/>
          <a:ln/>
        </p:spPr>
        <p:txBody>
          <a:bodyPr wrap="square" lIns="0" tIns="254000" rIns="2540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줄로 말하면: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공개된 국민건강조사(KNHANES) 자료로 한국인 환자 시뮬레이션에 필요한 체중·신기능·나이 등의 조합을 현실적으로 뽑아내는 오픈소스 도구를 만든다.
</a:t>
            </a:r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72시간 안에 이게 의미 있는지 검증하고, 의미 없으면 즉시 중단한다.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" y="4846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PIPET-Vault / 03_Projects / KoreanPKCov-Core  ·  2026-04-25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45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왜 필요한가  —  해결해야 할 문제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1207008"/>
          </a:xfrm>
          <a:prstGeom prst="rect">
            <a:avLst/>
          </a:prstGeom>
          <a:solidFill>
            <a:srgbClr val="1A2454"/>
          </a:solidFill>
          <a:ln/>
          <a:effectLst>
            <a:outerShdw sx="100000" sy="100000" kx="0" ky="0" algn="bl" rotWithShape="0" blurRad="1524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749808"/>
            <a:ext cx="8412480" cy="1207008"/>
          </a:xfrm>
          <a:prstGeom prst="rect">
            <a:avLst/>
          </a:prstGeom>
          <a:noFill/>
          <a:ln/>
        </p:spPr>
        <p:txBody>
          <a:bodyPr wrap="square" lIns="0" tIns="228600" rIns="2286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쉽게 말하면: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의사가 한국 환자에게 항생제를 처방할 때 "이 환자의 체중·나이·신장기능을 조합하면 약이 어떻게 움직일까?"를 시뮬레이션하려면
</a:t>
            </a:r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현실적인 한국인 환자 특성(공변량, covariate) 데이터가 필요한데, 이걸 공개·재구축 가능한 형태로 제공하는 도구가 없다.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2724912" cy="25146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103120"/>
            <a:ext cx="2724912" cy="4754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103120"/>
            <a:ext cx="2724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경쟁자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633472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SimCYP 한국 가상집단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" y="3054096"/>
            <a:ext cx="2505456" cy="182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3108960"/>
            <a:ext cx="250545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비슷한 도구가 2019년에 이미 존재한다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3749040"/>
            <a:ext cx="250545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문제: 하지만 폐쇄형이다.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연구자가 내용을 볼 수도, 바꿀 수도 없고, 비용도 든다.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18688" y="2103120"/>
            <a:ext cx="2724912" cy="251460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2103120"/>
            <a:ext cx="2724912" cy="475488"/>
          </a:xfrm>
          <a:prstGeom prst="rect">
            <a:avLst/>
          </a:prstGeom>
          <a:solidFill>
            <a:srgbClr val="E9883A"/>
          </a:solidFill>
          <a:ln/>
        </p:spPr>
      </p:sp>
      <p:sp>
        <p:nvSpPr>
          <p:cNvPr id="15" name="Text 13"/>
          <p:cNvSpPr/>
          <p:nvPr/>
        </p:nvSpPr>
        <p:spPr>
          <a:xfrm>
            <a:off x="3218688" y="2103120"/>
            <a:ext cx="2724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경쟁자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28416" y="2633472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한국 PopPK 연구들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28416" y="3054096"/>
            <a:ext cx="2505456" cy="18288"/>
          </a:xfrm>
          <a:prstGeom prst="rect">
            <a:avLst/>
          </a:prstGeom>
          <a:solidFill>
            <a:srgbClr val="E9883A"/>
          </a:solidFill>
          <a:ln/>
        </p:spPr>
      </p:sp>
      <p:sp>
        <p:nvSpPr>
          <p:cNvPr id="18" name="Text 16"/>
          <p:cNvSpPr/>
          <p:nvPr/>
        </p:nvSpPr>
        <p:spPr>
          <a:xfrm>
            <a:off x="3328416" y="3108960"/>
            <a:ext cx="250545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약물별 모델들이 여러 개 존재한다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28416" y="3749040"/>
            <a:ext cx="250545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문제: 각자 따로 만들어져 있어서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연구에서 재사용 가능한 통합 엔진이 없다.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71616" y="2103120"/>
            <a:ext cx="2724912" cy="2514600"/>
          </a:xfrm>
          <a:prstGeom prst="rect">
            <a:avLst/>
          </a:prstGeom>
          <a:solidFill>
            <a:srgbClr val="EBF5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71616" y="2103120"/>
            <a:ext cx="2724912" cy="4754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071616" y="2103120"/>
            <a:ext cx="2724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우리의 재료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81344" y="2633472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KNHANES 공개 데이터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81344" y="3054096"/>
            <a:ext cx="2505456" cy="182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6181344" y="3108960"/>
            <a:ext cx="250545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무료 국민건강영양조사 자료 — 공개되어 있다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81344" y="3749040"/>
            <a:ext cx="250545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문제: 이걸 약동학 시뮬레이션용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공변량 엔진으로 가공한 사례가 단 한 건도 없다.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  그래서: 공개 KNHANES 자료를 약동학 시뮬레이션용으로 가공하는 오픈소스 엔진을 처음으로 만든다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45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무엇인가  —  정체성과 경계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841248"/>
          </a:xfrm>
          <a:prstGeom prst="rect">
            <a:avLst/>
          </a:prstGeom>
          <a:solidFill>
            <a:srgbClr val="24316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749808"/>
            <a:ext cx="8412480" cy="841248"/>
          </a:xfrm>
          <a:prstGeom prst="rect">
            <a:avLst/>
          </a:prstGeom>
          <a:noFill/>
          <a:ln/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KoreanPKCov-Core  =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국민건강조사(KNHANES) 공개 데이터로 만든, 한국인 약동학 시뮬레이션용 환자 특성(공변량, covariate) 생성 엔진
</a:t>
            </a:r>
            <a:pPr indent="0" marL="0">
              <a:buNone/>
            </a:pPr>
            <a:r>
              <a:rPr lang="en-US" sz="11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오픈소스 · 누구나 재구축 가능 · 다음 연구에서 반복 재사용 가능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4096512" cy="43891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719072"/>
            <a:ext cx="4096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이것이다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57984"/>
            <a:ext cx="4096512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31136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</a:t>
            </a:r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데이터 + 공개 코드 → 누구나 검증·재현 가능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706624"/>
            <a:ext cx="3749040" cy="9144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743200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</a:t>
            </a:r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 반영 (survey-weighted)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전체 인구를 대표하도록 국민건강조사 표본 가중치 적용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218688"/>
            <a:ext cx="3749040" cy="9144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255264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</a:t>
            </a:r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상관구조 보존 (dependency-preserving)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체중·나이·신기능이 실제로 서로 연관되어 있는 것을 그대로 유지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730752"/>
            <a:ext cx="3749040" cy="9144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767328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</a:t>
            </a:r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 가능 (adapter layer)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약동학 모델에 바로 연결되는 변환 계산층 제공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242816"/>
            <a:ext cx="3749040" cy="9144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279392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</a:t>
            </a:r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재사용 가능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한번 만들면 이후 모든 한국인 PopPK 연구에서 반복 활용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81728" y="1719072"/>
            <a:ext cx="4096512" cy="43891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4681728" y="1719072"/>
            <a:ext cx="4096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이것이 아니다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81728" y="2157984"/>
            <a:ext cx="4096512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18888" y="2231136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임상 용량 권고 도구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의사에게 "이 환자에게 이 용량 쓰세요" 라고 말하는 도구가 아니다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18888" y="2706624"/>
            <a:ext cx="3749040" cy="9144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23" name="Text 21"/>
          <p:cNvSpPr/>
          <p:nvPr/>
        </p:nvSpPr>
        <p:spPr>
          <a:xfrm>
            <a:off x="4818888" y="2743200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최초 가상집단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SimCYP 한국 가상집단(2019)이 이미 존재한다 — 우린 오픈버전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18888" y="3218688"/>
            <a:ext cx="3749040" cy="9144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25" name="Text 23"/>
          <p:cNvSpPr/>
          <p:nvPr/>
        </p:nvSpPr>
        <p:spPr>
          <a:xfrm>
            <a:off x="4818888" y="3255264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규제용 검증 DB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제출용 clinical database가 아니다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18888" y="3730752"/>
            <a:ext cx="3749040" cy="9144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27" name="Text 25"/>
          <p:cNvSpPr/>
          <p:nvPr/>
        </p:nvSpPr>
        <p:spPr>
          <a:xfrm>
            <a:off x="4818888" y="3767328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PGx·소아 플랫폼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유전체·소아 데이터는 이번 범위에서 제외 (v5.x로 이연)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18888" y="4242816"/>
            <a:ext cx="3749040" cy="9144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29" name="Text 27"/>
          <p:cNvSpPr/>
          <p:nvPr/>
        </p:nvSpPr>
        <p:spPr>
          <a:xfrm>
            <a:off x="4818888" y="4279392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병원 EMR 연계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KNHANES만 사용 — 입원 환자 데이터 아님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4974336"/>
            <a:ext cx="8412480" cy="91440"/>
          </a:xfrm>
          <a:prstGeom prst="rect">
            <a:avLst/>
          </a:prstGeom>
          <a:solidFill>
            <a:srgbClr val="E8ECF4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45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아이디어  —  "따로 뽑기" vs "함께 뽑기"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1005840"/>
          </a:xfrm>
          <a:prstGeom prst="rect">
            <a:avLst/>
          </a:prstGeom>
          <a:solidFill>
            <a:srgbClr val="24316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749808"/>
            <a:ext cx="8412480" cy="1005840"/>
          </a:xfrm>
          <a:prstGeom prst="rect">
            <a:avLst/>
          </a:prstGeom>
          <a:noFill/>
          <a:ln/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비유로 이해하기: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 환자 1000명을 만들 때, 키·몸무게·나이를 각각 따로 랜덤하게 뽑으면 "80kg에 키 160cm인 80세 노인" 같은 비현실적 조합이 생긴다.
</a:t>
            </a:r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현실에서 80세 노인은 보통 신장기능도 같이 나쁘다. 이 연관성(상관관계)을 반드시 함께 보존해야 한다.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83664"/>
            <a:ext cx="409651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883664"/>
            <a:ext cx="4096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방법: 따로 뽑기 (marginal-only sampling)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340864"/>
            <a:ext cx="4096512" cy="23774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432304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키, 몸무게, 나이, 신기능을 각각 독립적으로 뽑는다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935224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"80세인데 신기능이 25세 청년 수준" 같은 비현실적 가상환자 발생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438144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특히 극단적 환자군(노쇠 노인, 고도비만+신부전 등)에서 오류가 심하다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941064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[X]  변수 간 상관관계가 무시됨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1883664"/>
            <a:ext cx="4096512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681728" y="1883664"/>
            <a:ext cx="4096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방법: 함께 뽑기 (dependency-preserving)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81728" y="2340864"/>
            <a:ext cx="4096512" cy="2377440"/>
          </a:xfrm>
          <a:prstGeom prst="rect">
            <a:avLst/>
          </a:prstGeom>
          <a:solidFill>
            <a:srgbClr val="EBF5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18888" y="2432304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실제 KNHANES 데이터에서 변수들이 서로 연관된 구조를 학습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18888" y="2935224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"80세 노인이면 신기능도 낮은 경향" 등 현실적 조합 생성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18888" y="3438144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특히 극단적 환자군(edge subgroup)에서 더 정확한 시뮬레이션 가능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18888" y="3941064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[V]  Vine Copula 기법으로 상관구조를 통째로 보존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645152"/>
            <a:ext cx="8412480" cy="411480"/>
          </a:xfrm>
          <a:prstGeom prst="rect">
            <a:avLst/>
          </a:prstGeom>
          <a:solidFill>
            <a:srgbClr val="1A2454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645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177800" rIns="17780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가설 (72h 검증 대상):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"함께 뽑기"가 "따로 뽑기" 대비, 취약 환자군에서 목표 혈중농도 달성 확률(PTA)을 5%p 이상 바꾼다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45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왜 될 것 같은가  —  현실성 근거 4가지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86384"/>
            <a:ext cx="4133088" cy="1965960"/>
          </a:xfrm>
          <a:prstGeom prst="rect">
            <a:avLst/>
          </a:prstGeom>
          <a:solidFill>
            <a:srgbClr val="EBF5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86384"/>
            <a:ext cx="4133088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" y="950976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9509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95097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데이터는 이미 있다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93776" y="1353312"/>
            <a:ext cx="387705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KNHANES(국민건강영양조사) 원시자료는 무료 공개. 체중·키·신기능·간수치 등 필요한 변수 모두 포함되어 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" y="2203704"/>
            <a:ext cx="3877056" cy="914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" y="2249424"/>
            <a:ext cx="3877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믿을 수 있나: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법무 문제는 공개 방법(tier)만 결정할 뿐, 프로젝트 자체를 막지 않는다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45152" y="786384"/>
            <a:ext cx="4133088" cy="196596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5152" y="786384"/>
            <a:ext cx="4133088" cy="73152"/>
          </a:xfrm>
          <a:prstGeom prst="rect">
            <a:avLst/>
          </a:prstGeom>
          <a:solidFill>
            <a:srgbClr val="E9883A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950976"/>
            <a:ext cx="347472" cy="347472"/>
          </a:xfrm>
          <a:prstGeom prst="ellipse">
            <a:avLst/>
          </a:prstGeom>
          <a:solidFill>
            <a:srgbClr val="E9883A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9509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93792" y="95097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72시간 안에 죽일 수 있다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73168" y="1353312"/>
            <a:ext cx="387705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가설이 틀리면 3일 안에 확인 후 즉시 중단. "틀려도 손해가 최소"인 구조로 위험 부담이 낮다.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73168" y="2203704"/>
            <a:ext cx="3877056" cy="9144"/>
          </a:xfrm>
          <a:prstGeom prst="rect">
            <a:avLst/>
          </a:prstGeom>
          <a:solidFill>
            <a:srgbClr val="E9883A"/>
          </a:solidFill>
          <a:ln/>
        </p:spPr>
      </p:sp>
      <p:sp>
        <p:nvSpPr>
          <p:cNvPr id="19" name="Text 17"/>
          <p:cNvSpPr/>
          <p:nvPr/>
        </p:nvSpPr>
        <p:spPr>
          <a:xfrm>
            <a:off x="4773168" y="2249424"/>
            <a:ext cx="3877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믿을 수 있나: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구조(Go/No-Go 판정)로 매 단계 진입 전에 명시적으로 결정한다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889504"/>
            <a:ext cx="4133088" cy="1965960"/>
          </a:xfrm>
          <a:prstGeom prst="rect">
            <a:avLst/>
          </a:prstGeom>
          <a:solidFill>
            <a:srgbClr val="F5F0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889504"/>
            <a:ext cx="4133088" cy="73152"/>
          </a:xfrm>
          <a:prstGeom prst="rect">
            <a:avLst/>
          </a:prstGeom>
          <a:solidFill>
            <a:srgbClr val="5B6FBF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" y="3054096"/>
            <a:ext cx="347472" cy="347472"/>
          </a:xfrm>
          <a:prstGeom prst="ellipse">
            <a:avLst/>
          </a:prstGeom>
          <a:solidFill>
            <a:srgbClr val="5B6FBF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30540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05409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스택이 검증됐다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93776" y="3456432"/>
            <a:ext cx="387705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+ rvinecopulib(공변량 결합분포 생성) + mrgsolve(약동학 시뮬레이션) + survey 패키지(국민건강조사 복합 표본 처리) — 모두 성숙한 오픈소스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" y="4306824"/>
            <a:ext cx="3877056" cy="9144"/>
          </a:xfrm>
          <a:prstGeom prst="rect">
            <a:avLst/>
          </a:prstGeom>
          <a:solidFill>
            <a:srgbClr val="5B6FBF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" y="4352544"/>
            <a:ext cx="3877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믿을 수 있나: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T: 진입 전에 7개 기술 항목을 실제로 돌려보고 통과 확인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45152" y="2889504"/>
            <a:ext cx="4133088" cy="1965960"/>
          </a:xfrm>
          <a:prstGeom prst="rect">
            <a:avLst/>
          </a:prstGeom>
          <a:solidFill>
            <a:srgbClr val="E8F8F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45152" y="2889504"/>
            <a:ext cx="4133088" cy="7315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0" y="3054096"/>
            <a:ext cx="347472" cy="347472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0540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93792" y="305409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대상 모델이 있다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773168" y="3456432"/>
            <a:ext cx="387705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DJ et al. (2019) — 한국 성인 99명 반코마이신 PopPK 모델, 신기능에 매우 민감한 구조. 우리 엔진이 실제로 시뮬레이션 결과를 바꾸는지 이 모델로 검증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73168" y="4306824"/>
            <a:ext cx="3877056" cy="914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5" name="Text 33"/>
          <p:cNvSpPr/>
          <p:nvPr/>
        </p:nvSpPr>
        <p:spPr>
          <a:xfrm>
            <a:off x="4773168" y="4352544"/>
            <a:ext cx="3877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믿을 수 있나: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재현 실패 시 Kim YK 2024 정상 신기능 모델로 자동 전환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4809744"/>
            <a:ext cx="8412480" cy="292608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80974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원칙: 매 단계(Gate)마다 "계속할 것인가?"를 명시적으로 기록하고 결정한다 — 감으로 밀고 나가지 않는다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45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성공하면 무엇이 남는가  —  3단계 누적 임팩트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중요: 세 레이어가 누적된다. Gate D(최종 검증)가 실패해도 Layer 1·2는 항상 살아남는다.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207008"/>
          </a:xfrm>
          <a:prstGeom prst="rect">
            <a:avLst/>
          </a:prstGeom>
          <a:solidFill>
            <a:srgbClr val="E8F8F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73152" cy="120700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7" name="Shape 5"/>
          <p:cNvSpPr/>
          <p:nvPr/>
        </p:nvSpPr>
        <p:spPr>
          <a:xfrm>
            <a:off x="512064" y="1152144"/>
            <a:ext cx="566928" cy="256032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" y="1152144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70432" y="1152144"/>
            <a:ext cx="7452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인프라 가치  —  Gate D 결과와 무관하게 항상 남는다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1463040"/>
            <a:ext cx="80650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KNHANES 자료를 약동학용으로 가공하는 R 패키지(Local Forge)와 한국인 환자 특성 지도(Covariate Atlas)를 만드는 것만으로도 PIPET-Vault 연구실의 영구 재사용 가능한 표준 도구가 된다.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1965960"/>
            <a:ext cx="8065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Local Forge R 패키지    |    🗺️ Covariate Atlas (공변량 지도)    |    📋 Reproducibility Dossier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404872"/>
            <a:ext cx="8412480" cy="1207008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04872"/>
            <a:ext cx="73152" cy="1207008"/>
          </a:xfrm>
          <a:prstGeom prst="rect">
            <a:avLst/>
          </a:prstGeom>
          <a:solidFill>
            <a:srgbClr val="E9883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" y="2478024"/>
            <a:ext cx="566928" cy="256032"/>
          </a:xfrm>
          <a:prstGeom prst="ellipse">
            <a:avLst/>
          </a:prstGeom>
          <a:solidFill>
            <a:srgbClr val="E9883A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" y="2478024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70432" y="2478024"/>
            <a:ext cx="7452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방법론 가치  —  null result(아무 차이 없음)도 출판 가능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2788920"/>
            <a:ext cx="80650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"함께 뽑기가 따로 뽑기 대비 시뮬레이션 결과를 바꾸지 않았다"는 결과도 그 자체로 의미 있는 음성 근거(negative evidence)다. CPT:PSP 저널에 방법론 노트로 게재 가능하다.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3291840"/>
            <a:ext cx="8065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Dependency Stress-Test Report (의존성 스트레스 검증 보고서)    |    📝 Methodological Note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730752"/>
            <a:ext cx="8412480" cy="1207008"/>
          </a:xfrm>
          <a:prstGeom prst="rect">
            <a:avLst/>
          </a:prstGeom>
          <a:solidFill>
            <a:srgbClr val="EBF5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730752"/>
            <a:ext cx="73152" cy="1207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Shape 19"/>
          <p:cNvSpPr/>
          <p:nvPr/>
        </p:nvSpPr>
        <p:spPr>
          <a:xfrm>
            <a:off x="512064" y="3803904"/>
            <a:ext cx="566928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" y="3803904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70432" y="3803904"/>
            <a:ext cx="7452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임상 시뮬레이션 가치  —  Gate D strong signal 통과 시에만 추가된다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4114800"/>
            <a:ext cx="80650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반코마이신 신기능-민감 벤치마크에서 "함께 뽑기"가 실제로 목표 달성 확률(PTA)을 5%p 이상 바꾼다면, 한국인 약동학 시뮬레이션에서 공변량 상관구조 보존이 임상적으로 유의미하다는 증거가 된다.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4617720"/>
            <a:ext cx="8065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Benchmark Note (반코마이신 벤치마크)    |    📊 Model-Readiness Index (약물별 적용 가능성 점수표)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45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실패해도 손실을 최소화하는 설계  —  Gate D 자동 전환 경로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438912"/>
          </a:xfrm>
          <a:prstGeom prst="rect">
            <a:avLst/>
          </a:prstGeom>
          <a:solidFill>
            <a:srgbClr val="24316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713232"/>
            <a:ext cx="8412480" cy="438912"/>
          </a:xfrm>
          <a:prstGeom prst="rect">
            <a:avLst/>
          </a:prstGeom>
          <a:noFill/>
          <a:ln/>
        </p:spPr>
        <p:txBody>
          <a:bodyPr wrap="square" lIns="0" tIns="177800" rIns="1778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D(최종 판정)  =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72h kill-test 완료 후, "함께 뽑기"가 "따로 뽑기" 대비 취약 환자군에서 목표 달성 확률(PTA)을 얼마나 바꾸는지 판정하는 관문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8412480" cy="841248"/>
          </a:xfrm>
          <a:prstGeom prst="rect">
            <a:avLst/>
          </a:prstGeom>
          <a:solidFill>
            <a:srgbClr val="E8F8F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64008" cy="84124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" y="1316736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Strong signal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" y="16642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PTA 차이(ΔPTA) ≥ 5%p — 두 방법이 실질적으로 다른 결론을 낸다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26280" y="1353312"/>
            <a:ext cx="18288" cy="65836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1316736"/>
            <a:ext cx="4005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Build → 논문 + R 패키지 + Atlas 전체 완성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185416"/>
            <a:ext cx="8412480" cy="841248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85416"/>
            <a:ext cx="64008" cy="841248"/>
          </a:xfrm>
          <a:prstGeom prst="rect">
            <a:avLst/>
          </a:prstGeom>
          <a:solidFill>
            <a:srgbClr val="E9883A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" y="224028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Weak signal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" y="25877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2–5%p 차이, 방향은 일관됨 — 차이는 있지만 작다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26280" y="2276856"/>
            <a:ext cx="18288" cy="65836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7" name="Text 15"/>
          <p:cNvSpPr/>
          <p:nvPr/>
        </p:nvSpPr>
        <p:spPr>
          <a:xfrm>
            <a:off x="4645152" y="2240280"/>
            <a:ext cx="4005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Build → 논문은 쓰되 claim을 "취약 환자군에서의 민감도"로 축소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108960"/>
            <a:ext cx="8412480" cy="841248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108960"/>
            <a:ext cx="64008" cy="8412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" y="3163824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Null result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" y="351129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2%p 또는 Monte Carlo 노이즈(simulation 반복 오차) 이내 — 두 방법이 동일하다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26280" y="3200400"/>
            <a:ext cx="18288" cy="65836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3" name="Text 21"/>
          <p:cNvSpPr/>
          <p:nvPr/>
        </p:nvSpPr>
        <p:spPr>
          <a:xfrm>
            <a:off x="4645152" y="3163824"/>
            <a:ext cx="4005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Copula build 즉시 중단 → Atlas + 방법론 노트 = 그 자체로 CPT:PSP 게재 가능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032504"/>
            <a:ext cx="8412480" cy="841248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032504"/>
            <a:ext cx="64008" cy="84124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" y="4087368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⚫ Benchmark 실패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2064" y="4434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DJ 2019 모델 재현 오차 ±20% 초과 — 비교 기준 자체가 흔들림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26280" y="4123944"/>
            <a:ext cx="18288" cy="65836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9" name="Text 27"/>
          <p:cNvSpPr/>
          <p:nvPr/>
        </p:nvSpPr>
        <p:spPr>
          <a:xfrm>
            <a:off x="4645152" y="4087368"/>
            <a:ext cx="4005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YK 2024 정상 신기능 anchor로 전환 또는 방법론 논문으로 전환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974336"/>
            <a:ext cx="8412480" cy="91440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45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어떻게 실현하나  —  5단계 관문(Gate) 구조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627632" y="1783080"/>
            <a:ext cx="438912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/>
          <p:nvPr/>
        </p:nvSpPr>
        <p:spPr>
          <a:xfrm>
            <a:off x="1664208" y="1691640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1298448" cy="2788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804672"/>
            <a:ext cx="1298448" cy="438912"/>
          </a:xfrm>
          <a:prstGeom prst="rect">
            <a:avLst/>
          </a:prstGeom>
          <a:solidFill>
            <a:srgbClr val="1A2454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804672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68096" y="1316736"/>
            <a:ext cx="457200" cy="457200"/>
          </a:xfrm>
          <a:prstGeom prst="ellipse">
            <a:avLst/>
          </a:prstGeom>
          <a:solidFill>
            <a:srgbClr val="1A2454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1316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👨‍🏫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93192" y="1847088"/>
            <a:ext cx="1207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정렬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192" y="2249424"/>
            <a:ext cx="120700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지도교수 미팅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위치 결정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챕터 가치 확인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" y="3364992"/>
            <a:ext cx="1115568" cy="219456"/>
          </a:xfrm>
          <a:prstGeom prst="rect">
            <a:avLst/>
          </a:prstGeom>
          <a:solidFill>
            <a:srgbClr val="1A2454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3364992"/>
            <a:ext cx="1115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46704" y="1783080"/>
            <a:ext cx="438912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1691640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66544" y="804672"/>
            <a:ext cx="1298448" cy="2788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66544" y="804672"/>
            <a:ext cx="1298448" cy="43891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2066544" y="804672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487168" y="131673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2487168" y="1316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🛠️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112264" y="1847088"/>
            <a:ext cx="1207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준비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12264" y="2249424"/>
            <a:ext cx="120700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7항목 체크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실제로 코드 돌려보기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통과 못하면 보강 후 재시도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157984" y="3364992"/>
            <a:ext cx="1115568" cy="21945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2157984" y="3364992"/>
            <a:ext cx="1115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65776" y="1783080"/>
            <a:ext cx="438912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7" name="Text 25"/>
          <p:cNvSpPr/>
          <p:nvPr/>
        </p:nvSpPr>
        <p:spPr>
          <a:xfrm>
            <a:off x="5102352" y="1691640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785616" y="804672"/>
            <a:ext cx="1298448" cy="2788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785616" y="804672"/>
            <a:ext cx="1298448" cy="438912"/>
          </a:xfrm>
          <a:prstGeom prst="rect">
            <a:avLst/>
          </a:prstGeom>
          <a:solidFill>
            <a:srgbClr val="E9883A"/>
          </a:solidFill>
          <a:ln/>
        </p:spPr>
      </p:sp>
      <p:sp>
        <p:nvSpPr>
          <p:cNvPr id="30" name="Text 28"/>
          <p:cNvSpPr/>
          <p:nvPr/>
        </p:nvSpPr>
        <p:spPr>
          <a:xfrm>
            <a:off x="3785616" y="804672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D0–D3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206240" y="1316736"/>
            <a:ext cx="457200" cy="457200"/>
          </a:xfrm>
          <a:prstGeom prst="ellipse">
            <a:avLst/>
          </a:prstGeom>
          <a:solidFill>
            <a:srgbClr val="E9883A"/>
          </a:solidFill>
          <a:ln/>
        </p:spPr>
      </p:sp>
      <p:sp>
        <p:nvSpPr>
          <p:cNvPr id="32" name="Text 30"/>
          <p:cNvSpPr/>
          <p:nvPr/>
        </p:nvSpPr>
        <p:spPr>
          <a:xfrm>
            <a:off x="4206240" y="1316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831336" y="1847088"/>
            <a:ext cx="1207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72h Kill-test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31336" y="2249424"/>
            <a:ext cx="120700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가설 검증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KNHANES 데이터 처리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 환자군 PTA 비교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77056" y="3364992"/>
            <a:ext cx="1115568" cy="219456"/>
          </a:xfrm>
          <a:prstGeom prst="rect">
            <a:avLst/>
          </a:prstGeom>
          <a:solidFill>
            <a:srgbClr val="E9883A"/>
          </a:solidFill>
          <a:ln/>
        </p:spPr>
      </p:sp>
      <p:sp>
        <p:nvSpPr>
          <p:cNvPr id="36" name="Text 34"/>
          <p:cNvSpPr/>
          <p:nvPr/>
        </p:nvSpPr>
        <p:spPr>
          <a:xfrm>
            <a:off x="3877056" y="3364992"/>
            <a:ext cx="1115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3일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784848" y="1783080"/>
            <a:ext cx="438912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8" name="Text 36"/>
          <p:cNvSpPr/>
          <p:nvPr/>
        </p:nvSpPr>
        <p:spPr>
          <a:xfrm>
            <a:off x="6821424" y="1691640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504688" y="804672"/>
            <a:ext cx="1298448" cy="2788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504688" y="804672"/>
            <a:ext cx="1298448" cy="438912"/>
          </a:xfrm>
          <a:prstGeom prst="rect">
            <a:avLst/>
          </a:prstGeom>
          <a:solidFill>
            <a:srgbClr val="5B6FBF"/>
          </a:solidFill>
          <a:ln/>
        </p:spPr>
      </p:sp>
      <p:sp>
        <p:nvSpPr>
          <p:cNvPr id="41" name="Text 39"/>
          <p:cNvSpPr/>
          <p:nvPr/>
        </p:nvSpPr>
        <p:spPr>
          <a:xfrm>
            <a:off x="5504688" y="804672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925312" y="1316736"/>
            <a:ext cx="457200" cy="457200"/>
          </a:xfrm>
          <a:prstGeom prst="ellipse">
            <a:avLst/>
          </a:prstGeom>
          <a:solidFill>
            <a:srgbClr val="5B6FBF"/>
          </a:solidFill>
          <a:ln/>
        </p:spPr>
      </p:sp>
      <p:sp>
        <p:nvSpPr>
          <p:cNvPr id="43" name="Text 41"/>
          <p:cNvSpPr/>
          <p:nvPr/>
        </p:nvSpPr>
        <p:spPr>
          <a:xfrm>
            <a:off x="5925312" y="1316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550408" y="1847088"/>
            <a:ext cx="1207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판정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550408" y="2249424"/>
            <a:ext cx="120700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/ Weak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/ Unstable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자동 경로 전환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596128" y="3364992"/>
            <a:ext cx="1115568" cy="219456"/>
          </a:xfrm>
          <a:prstGeom prst="rect">
            <a:avLst/>
          </a:prstGeom>
          <a:solidFill>
            <a:srgbClr val="5B6FBF"/>
          </a:solidFill>
          <a:ln/>
        </p:spPr>
      </p:sp>
      <p:sp>
        <p:nvSpPr>
          <p:cNvPr id="47" name="Text 45"/>
          <p:cNvSpPr/>
          <p:nvPr/>
        </p:nvSpPr>
        <p:spPr>
          <a:xfrm>
            <a:off x="5596128" y="3364992"/>
            <a:ext cx="1115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223760" y="804672"/>
            <a:ext cx="1298448" cy="2788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223760" y="804672"/>
            <a:ext cx="1298448" cy="43891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50" name="Text 48"/>
          <p:cNvSpPr/>
          <p:nvPr/>
        </p:nvSpPr>
        <p:spPr>
          <a:xfrm>
            <a:off x="7223760" y="804672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D4–D30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644384" y="1316736"/>
            <a:ext cx="457200" cy="45720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52" name="Text 50"/>
          <p:cNvSpPr/>
          <p:nvPr/>
        </p:nvSpPr>
        <p:spPr>
          <a:xfrm>
            <a:off x="7644384" y="1316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7269480" y="1847088"/>
            <a:ext cx="1207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논문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269480" y="2249424"/>
            <a:ext cx="120700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build 또는 축소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패키지 + Atlas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초안 + 제출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315200" y="3364992"/>
            <a:ext cx="1115568" cy="219456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56" name="Text 54"/>
          <p:cNvSpPr/>
          <p:nvPr/>
        </p:nvSpPr>
        <p:spPr>
          <a:xfrm>
            <a:off x="7315200" y="3364992"/>
            <a:ext cx="1115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26일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65760" y="3749040"/>
            <a:ext cx="8412480" cy="384048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58" name="Text 56"/>
          <p:cNvSpPr/>
          <p:nvPr/>
        </p:nvSpPr>
        <p:spPr>
          <a:xfrm>
            <a:off x="365760" y="37490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취약 환자군(edge subgroup) 5개는 Gate P 승인 직후 잠근다(lock) — 검증 전에 미리 정해야 "결과 보고 기준을 바꾸는" 사후해석 조작을 차단할 수 있다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65760" y="420624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SG1: 만 75세 이상 + 신기능 eGFR&lt;60 + 저체중 BMI&lt;20  (노쇠·신기능저하 극단)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SG2: 고도비만 BMI≥30 + 신기능 eGFR&lt;60  (비만·신부전 극단)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SG3: 신기능 eGFR≥120 + 정상 체중  (과여과, 젊고 건강한 신장)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SG4: 만 75세 이상 + 혈청크레아티닌 정상 + 저체중  (근감소성 신기능 과대평가 위험)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SG5: 간수치 elevated + 저체중  (간기능 이상 극단)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45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단계별 실행 플랜  —  실무 디테일 (D-1 → D30)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987552"/>
          </a:xfrm>
          <a:prstGeom prst="rect">
            <a:avLst/>
          </a:prstGeom>
          <a:solidFill>
            <a:srgbClr val="EBF5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49808"/>
            <a:ext cx="73152" cy="987552"/>
          </a:xfrm>
          <a:prstGeom prst="rect">
            <a:avLst/>
          </a:prstGeom>
          <a:solidFill>
            <a:srgbClr val="1A2454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7955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  |  지금 당장 (Pre-Gate)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06040" y="786384"/>
            <a:ext cx="60533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Gate P: PI 1-page brief 출력 → 미팅에서 "프로젝트 위치 + null 시 챕터 가치" 명시적 확인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Gate T: rvinecopulib 장난감 데이터로 실제 실행 (family 선택 → fit → simulate → 역변환) 성공 여부 확인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Edge subgroup 5개 PI 동의 후 P0_subgroup_lock.md에 기록·잠금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D0–D3 kill-test R script 뼈대(skeleton) 미리 작성해두기 — 시작과 동시에 바로 돌릴 수 있게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8412480" cy="987552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28800"/>
            <a:ext cx="73152" cy="987552"/>
          </a:xfrm>
          <a:prstGeom prst="rect">
            <a:avLst/>
          </a:prstGeom>
          <a:solidFill>
            <a:srgbClr val="E9883A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8745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D0–D3  |  72시간 Kill-test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06040" y="1865376"/>
            <a:ext cx="60533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KNHANES SAS 파일 로딩 + survey::svydesign() 복합표본 설계 객체 생성 [D0]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가중 주변분포(weighted marginal) 검증 + 4가지 방법 비교 세팅: 따로뽑기 / 부트스트랩 / Copula / MVN [D1-D2]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Kim DJ 2019 약동학 모델 mini-replication + 취약환자군(SG1-5)별 PTA 차이 계산 [D3]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병렬: IRB 제출 + 법무 query 발송 [D0] — 결과 기다리는 동안 기술 작업 동시 진행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907792"/>
            <a:ext cx="8412480" cy="987552"/>
          </a:xfrm>
          <a:prstGeom prst="rect">
            <a:avLst/>
          </a:prstGeom>
          <a:solidFill>
            <a:srgbClr val="E8F8F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07792"/>
            <a:ext cx="73152" cy="9875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9535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D4–D14  |  Full Build (Gate D 통과 시)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06040" y="2944368"/>
            <a:ext cx="60533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Codebook 심층 감사 → 변수 가용성 테이블 (E3_variable_availability_table.xlsx)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rvinecopulib: pair-copula family AIC/BIC 자동선택 → fit → 역변환(inverse transform) → 재현성 확인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Adapter layer: BMI·BSA·신기능(eGFR) 4식·Cockcroft-Gault CrCL 계산 + sanity check (단위·범위 자동 검증)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Privacy firewall: 원자료 복제율(duplicate rate) + 최근접 이웃 거리(nearest-neighbor distance) 검증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986784"/>
            <a:ext cx="8412480" cy="987552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986784"/>
            <a:ext cx="73152" cy="98755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40325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D15–D30  |  Manuscript + Release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06040" y="4023360"/>
            <a:ext cx="60533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Covariate Atlas HTML 완성 + Local Forge R 패키지 정식 빌드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Release tier 결정: 법무 회신 기준 — Core(코드만) / Plus(요약통계 추가) / Full(합성 데이터 포함)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논문 초안 (Quarto) → CPT:PSP(Clinical Pharmacology &amp; Therapeutics: PSP) 1차 후보 제출 준비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Reproducibility dossier: 동일 seed·session info·전체 script 포함 — 완전 재현 보장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5010912"/>
            <a:ext cx="8412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병렬 트랙: IRB + 법무 query는 D0에 동시 발송 — 결과를 기다리는 3–4주 동안 기술 작업 계속 진행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45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방법론  —  "함께 뽑기"를 어떻게 구현하나? (Vine Copula 쉬운 설명)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896112"/>
          </a:xfrm>
          <a:prstGeom prst="rect">
            <a:avLst/>
          </a:prstGeom>
          <a:solidFill>
            <a:srgbClr val="24316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749808"/>
            <a:ext cx="8412480" cy="896112"/>
          </a:xfrm>
          <a:prstGeom prst="rect">
            <a:avLst/>
          </a:prstGeom>
          <a:noFill/>
          <a:ln/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 Copula란?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변수들이 서로 어떻게 연관되어 있는지(상관 구조)를 수학적으로 캡처하고, 그 구조를 보존하면서 새로운 가상 환자를 생성하는 방법.
</a:t>
            </a:r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"80세이면 신기능도 낮은 경향이 있다"는 패턴을 학습해서, 그 패턴대로 환자를 뽑는다. (rvinecopulib R 패키지 사용)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"그냥 부트스트랩(bootstrap)으로 뽑으면 안 되나?" — 3가지 이유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2121408"/>
            <a:ext cx="3200400" cy="347472"/>
          </a:xfrm>
          <a:prstGeom prst="rect">
            <a:avLst/>
          </a:prstGeom>
          <a:solidFill>
            <a:srgbClr val="2E3F7A"/>
          </a:solidFill>
          <a:ln/>
        </p:spPr>
      </p:sp>
      <p:sp>
        <p:nvSpPr>
          <p:cNvPr id="8" name="Shape 6"/>
          <p:cNvSpPr/>
          <p:nvPr/>
        </p:nvSpPr>
        <p:spPr>
          <a:xfrm>
            <a:off x="3584448" y="2121408"/>
            <a:ext cx="2606040" cy="347472"/>
          </a:xfrm>
          <a:prstGeom prst="rect">
            <a:avLst/>
          </a:prstGeom>
          <a:solidFill>
            <a:srgbClr val="3D7A6B"/>
          </a:solidFill>
          <a:ln/>
        </p:spPr>
      </p:sp>
      <p:sp>
        <p:nvSpPr>
          <p:cNvPr id="9" name="Shape 7"/>
          <p:cNvSpPr/>
          <p:nvPr/>
        </p:nvSpPr>
        <p:spPr>
          <a:xfrm>
            <a:off x="6208776" y="2121408"/>
            <a:ext cx="2569464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1214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항목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84448" y="21214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부트스트랩 (bootstrap)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08776" y="2121408"/>
            <a:ext cx="2569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 Copula (우리)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487168"/>
            <a:ext cx="32004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584448" y="2487168"/>
            <a:ext cx="26060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208776" y="2487168"/>
            <a:ext cx="2569464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05456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 범위 내 환자 생성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250545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잘 됨 — 원본 데이터를 그대로 재샘플링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6263640" y="250545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동등하게 잘 됨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3200400" cy="51206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3584448" y="3017520"/>
            <a:ext cx="2606040" cy="51206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208776" y="3017520"/>
            <a:ext cx="2569464" cy="51206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035808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 범위 밖 취약환자군 외삽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(tail extrapolation)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0" y="303580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불가능 — 원본에 없는 값은 못 만듦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6263640" y="303580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가능 — 학습한 분포에서 새 값 생성 가능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365760" y="3547872"/>
            <a:ext cx="32004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584448" y="3547872"/>
            <a:ext cx="26060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208776" y="3547872"/>
            <a:ext cx="2569464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566160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연구에서 재사용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0" y="356616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매번 원본 데이터 필요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6263640" y="356616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학습된 모델(fitted object)만으로 재생성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365760" y="4078224"/>
            <a:ext cx="3200400" cy="51206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2" name="Shape 30"/>
          <p:cNvSpPr/>
          <p:nvPr/>
        </p:nvSpPr>
        <p:spPr>
          <a:xfrm>
            <a:off x="3584448" y="4078224"/>
            <a:ext cx="2606040" cy="51206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3" name="Shape 31"/>
          <p:cNvSpPr/>
          <p:nvPr/>
        </p:nvSpPr>
        <p:spPr>
          <a:xfrm>
            <a:off x="6208776" y="4078224"/>
            <a:ext cx="2569464" cy="51206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096512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난이도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0" y="409651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쉬움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6263640" y="409651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중간 (rvinecopulib 필요, Gate T에서 사전 확인)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365760" y="4626864"/>
            <a:ext cx="8412480" cy="43891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626864"/>
            <a:ext cx="8412480" cy="438912"/>
          </a:xfrm>
          <a:prstGeom prst="rect">
            <a:avLst/>
          </a:prstGeom>
          <a:noFill/>
          <a:ln/>
        </p:spPr>
        <p:txBody>
          <a:bodyPr wrap="square" lIns="0" tIns="177800" rIns="1778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 Copula의 진짜 효용은 "관측 범위 밖 취약환자 외삽 + 재사용 가능한 generator" — 이것이 단순 부트스트랩과 다른 이유이고, 비교 설계 자체가 이를 입증한다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45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 판정 기준  —  숫자로 보는 결정 규칙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749808"/>
          </a:xfrm>
          <a:prstGeom prst="rect">
            <a:avLst/>
          </a:prstGeom>
          <a:solidFill>
            <a:srgbClr val="24316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749808"/>
            <a:ext cx="8412480" cy="749808"/>
          </a:xfrm>
          <a:prstGeom prst="rect">
            <a:avLst/>
          </a:prstGeom>
          <a:noFill/>
          <a:ln/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효과크기 = ΔPTA (absolute %p)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"함께 뽑기" vs "따로 뽑기"에서 목표 혈중농도 달성 확률(PTA)의 절대 차이
</a:t>
            </a:r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단, Monte Carlo 노이즈(동일 seed 반복 simulation의 무작위 오차)보다 큰 변화만 실질적 차이로 인정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1097280" cy="320040"/>
          </a:xfrm>
          <a:prstGeom prst="rect">
            <a:avLst/>
          </a:prstGeom>
          <a:solidFill>
            <a:srgbClr val="1A245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7276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81328" y="1572768"/>
            <a:ext cx="2011680" cy="320040"/>
          </a:xfrm>
          <a:prstGeom prst="rect">
            <a:avLst/>
          </a:prstGeom>
          <a:solidFill>
            <a:srgbClr val="1A2454"/>
          </a:solidFill>
          <a:ln/>
        </p:spPr>
      </p:sp>
      <p:sp>
        <p:nvSpPr>
          <p:cNvPr id="9" name="Text 7"/>
          <p:cNvSpPr/>
          <p:nvPr/>
        </p:nvSpPr>
        <p:spPr>
          <a:xfrm>
            <a:off x="1481328" y="1572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 (ΔPTA)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11296" y="1572768"/>
            <a:ext cx="2286000" cy="320040"/>
          </a:xfrm>
          <a:prstGeom prst="rect">
            <a:avLst/>
          </a:prstGeom>
          <a:solidFill>
            <a:srgbClr val="1A2454"/>
          </a:solidFill>
          <a:ln/>
        </p:spPr>
      </p:sp>
      <p:sp>
        <p:nvSpPr>
          <p:cNvPr id="11" name="Text 9"/>
          <p:cNvSpPr/>
          <p:nvPr/>
        </p:nvSpPr>
        <p:spPr>
          <a:xfrm>
            <a:off x="3511296" y="15727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즉각 액션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15584" y="1572768"/>
            <a:ext cx="2926080" cy="320040"/>
          </a:xfrm>
          <a:prstGeom prst="rect">
            <a:avLst/>
          </a:prstGeom>
          <a:solidFill>
            <a:srgbClr val="1A2454"/>
          </a:solidFill>
          <a:ln/>
        </p:spPr>
      </p:sp>
      <p:sp>
        <p:nvSpPr>
          <p:cNvPr id="13" name="Text 11"/>
          <p:cNvSpPr/>
          <p:nvPr/>
        </p:nvSpPr>
        <p:spPr>
          <a:xfrm>
            <a:off x="5815584" y="15727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산출물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911096"/>
            <a:ext cx="1097280" cy="548640"/>
          </a:xfrm>
          <a:prstGeom prst="rect">
            <a:avLst/>
          </a:prstGeom>
          <a:solidFill>
            <a:srgbClr val="E8F8F2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" y="1929384"/>
            <a:ext cx="9875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Strong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1481328" y="1911096"/>
            <a:ext cx="2011680" cy="548640"/>
          </a:xfrm>
          <a:prstGeom prst="rect">
            <a:avLst/>
          </a:prstGeom>
          <a:solidFill>
            <a:srgbClr val="E8F8F2"/>
          </a:solidFill>
          <a:ln/>
        </p:spPr>
      </p:sp>
      <p:sp>
        <p:nvSpPr>
          <p:cNvPr id="17" name="Text 15"/>
          <p:cNvSpPr/>
          <p:nvPr/>
        </p:nvSpPr>
        <p:spPr>
          <a:xfrm>
            <a:off x="1536192" y="1929384"/>
            <a:ext cx="19019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ΔPTA ≥ 5%p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(취약 환자군 ≥1개에서)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3511296" y="1911096"/>
            <a:ext cx="2286000" cy="548640"/>
          </a:xfrm>
          <a:prstGeom prst="rect">
            <a:avLst/>
          </a:prstGeom>
          <a:solidFill>
            <a:srgbClr val="E8F8F2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1929384"/>
            <a:ext cx="2176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Build 즉시 진행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815584" y="1911096"/>
            <a:ext cx="2926080" cy="548640"/>
          </a:xfrm>
          <a:prstGeom prst="rect">
            <a:avLst/>
          </a:prstGeom>
          <a:solidFill>
            <a:srgbClr val="E8F8F2"/>
          </a:solidFill>
          <a:ln/>
        </p:spPr>
      </p:sp>
      <p:sp>
        <p:nvSpPr>
          <p:cNvPr id="21" name="Text 19"/>
          <p:cNvSpPr/>
          <p:nvPr/>
        </p:nvSpPr>
        <p:spPr>
          <a:xfrm>
            <a:off x="5870448" y="1929384"/>
            <a:ext cx="2816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+ 패키지 + Atlas + Benchmark Note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365760" y="2496312"/>
            <a:ext cx="1097280" cy="54864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" y="2514600"/>
            <a:ext cx="9875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Weak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1481328" y="2496312"/>
            <a:ext cx="2011680" cy="54864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5" name="Text 23"/>
          <p:cNvSpPr/>
          <p:nvPr/>
        </p:nvSpPr>
        <p:spPr>
          <a:xfrm>
            <a:off x="1536192" y="2514600"/>
            <a:ext cx="19019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2–5%p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방향성 일관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3511296" y="2496312"/>
            <a:ext cx="2286000" cy="54864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0" y="2514600"/>
            <a:ext cx="2176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Build 진행 + claim 축소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815584" y="2496312"/>
            <a:ext cx="2926080" cy="54864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9" name="Text 27"/>
          <p:cNvSpPr/>
          <p:nvPr/>
        </p:nvSpPr>
        <p:spPr>
          <a:xfrm>
            <a:off x="5870448" y="2514600"/>
            <a:ext cx="2816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(범위 축소) + Atlas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365760" y="3081528"/>
            <a:ext cx="1097280" cy="5486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31" name="Text 29"/>
          <p:cNvSpPr/>
          <p:nvPr/>
        </p:nvSpPr>
        <p:spPr>
          <a:xfrm>
            <a:off x="420624" y="3099816"/>
            <a:ext cx="9875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Null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1481328" y="3081528"/>
            <a:ext cx="2011680" cy="5486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33" name="Text 31"/>
          <p:cNvSpPr/>
          <p:nvPr/>
        </p:nvSpPr>
        <p:spPr>
          <a:xfrm>
            <a:off x="1536192" y="3099816"/>
            <a:ext cx="19019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2%p 또는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noise 이내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3511296" y="3081528"/>
            <a:ext cx="2286000" cy="5486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35" name="Text 33"/>
          <p:cNvSpPr/>
          <p:nvPr/>
        </p:nvSpPr>
        <p:spPr>
          <a:xfrm>
            <a:off x="3566160" y="3099816"/>
            <a:ext cx="2176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Copula full build 중단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815584" y="3081528"/>
            <a:ext cx="2926080" cy="5486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37" name="Text 35"/>
          <p:cNvSpPr/>
          <p:nvPr/>
        </p:nvSpPr>
        <p:spPr>
          <a:xfrm>
            <a:off x="5870448" y="3099816"/>
            <a:ext cx="2816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+ Methodological Note → CPT:PSP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365760" y="3666744"/>
            <a:ext cx="1097280" cy="548640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39" name="Text 37"/>
          <p:cNvSpPr/>
          <p:nvPr/>
        </p:nvSpPr>
        <p:spPr>
          <a:xfrm>
            <a:off x="420624" y="3685032"/>
            <a:ext cx="9875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⚫ Unstable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1481328" y="3666744"/>
            <a:ext cx="2011680" cy="548640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41" name="Text 39"/>
          <p:cNvSpPr/>
          <p:nvPr/>
        </p:nvSpPr>
        <p:spPr>
          <a:xfrm>
            <a:off x="1536192" y="3685032"/>
            <a:ext cx="19019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재현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±20% 초과 실패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3511296" y="3666744"/>
            <a:ext cx="2286000" cy="548640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43" name="Text 41"/>
          <p:cNvSpPr/>
          <p:nvPr/>
        </p:nvSpPr>
        <p:spPr>
          <a:xfrm>
            <a:off x="3566160" y="3685032"/>
            <a:ext cx="2176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전면 제거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5815584" y="3666744"/>
            <a:ext cx="2926080" cy="548640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45" name="Text 43"/>
          <p:cNvSpPr/>
          <p:nvPr/>
        </p:nvSpPr>
        <p:spPr>
          <a:xfrm>
            <a:off x="5870448" y="3685032"/>
            <a:ext cx="2816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방법론 논문으로 전환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365760" y="4251960"/>
            <a:ext cx="1097280" cy="548640"/>
          </a:xfrm>
          <a:prstGeom prst="rect">
            <a:avLst/>
          </a:prstGeom>
          <a:solidFill>
            <a:srgbClr val="F5EDE6"/>
          </a:solidFill>
          <a:ln/>
        </p:spPr>
      </p:sp>
      <p:sp>
        <p:nvSpPr>
          <p:cNvPr id="47" name="Text 45"/>
          <p:cNvSpPr/>
          <p:nvPr/>
        </p:nvSpPr>
        <p:spPr>
          <a:xfrm>
            <a:off x="420624" y="4270248"/>
            <a:ext cx="9875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🟤 Underpowered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1481328" y="4251960"/>
            <a:ext cx="2011680" cy="548640"/>
          </a:xfrm>
          <a:prstGeom prst="rect">
            <a:avLst/>
          </a:prstGeom>
          <a:solidFill>
            <a:srgbClr val="F5EDE6"/>
          </a:solidFill>
          <a:ln/>
        </p:spPr>
      </p:sp>
      <p:sp>
        <p:nvSpPr>
          <p:cNvPr id="49" name="Text 47"/>
          <p:cNvSpPr/>
          <p:nvPr/>
        </p:nvSpPr>
        <p:spPr>
          <a:xfrm>
            <a:off x="1536192" y="4270248"/>
            <a:ext cx="19019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취약환자군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&lt; 20명 (비가중)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3511296" y="4251960"/>
            <a:ext cx="2286000" cy="548640"/>
          </a:xfrm>
          <a:prstGeom prst="rect">
            <a:avLst/>
          </a:prstGeom>
          <a:solidFill>
            <a:srgbClr val="F5EDE6"/>
          </a:solidFill>
          <a:ln/>
        </p:spPr>
      </p:sp>
      <p:sp>
        <p:nvSpPr>
          <p:cNvPr id="51" name="Text 49"/>
          <p:cNvSpPr/>
          <p:nvPr/>
        </p:nvSpPr>
        <p:spPr>
          <a:xfrm>
            <a:off x="3566160" y="4270248"/>
            <a:ext cx="2176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Descriptive-only 보고</a:t>
            </a:r>
            <a:endParaRPr lang="en-US" sz="980" dirty="0"/>
          </a:p>
        </p:txBody>
      </p:sp>
      <p:sp>
        <p:nvSpPr>
          <p:cNvPr id="52" name="Shape 50"/>
          <p:cNvSpPr/>
          <p:nvPr/>
        </p:nvSpPr>
        <p:spPr>
          <a:xfrm>
            <a:off x="5815584" y="4251960"/>
            <a:ext cx="2926080" cy="548640"/>
          </a:xfrm>
          <a:prstGeom prst="rect">
            <a:avLst/>
          </a:prstGeom>
          <a:solidFill>
            <a:srgbClr val="F5EDE6"/>
          </a:solidFill>
          <a:ln/>
        </p:spPr>
      </p:sp>
      <p:sp>
        <p:nvSpPr>
          <p:cNvPr id="53" name="Text 51"/>
          <p:cNvSpPr/>
          <p:nvPr/>
        </p:nvSpPr>
        <p:spPr>
          <a:xfrm>
            <a:off x="5870448" y="4270248"/>
            <a:ext cx="2816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판정 제외 — 참고용만</a:t>
            </a:r>
            <a:endParaRPr lang="en-US" sz="980" dirty="0"/>
          </a:p>
        </p:txBody>
      </p:sp>
      <p:sp>
        <p:nvSpPr>
          <p:cNvPr id="54" name="Shape 5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5" name="Text 5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≠ 실패: "차이가 없다"는 것 자체가 "공변량 상관구조가 이 benchmark 결론을 바꾸지 않는다"는 의미 있는 음성 근거 — 그 자체로 출판 가능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PI께 요청드리는 결정 3가지  +  D-1 지금 바로 할 일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2724912" cy="3090672"/>
          </a:xfrm>
          <a:prstGeom prst="rect">
            <a:avLst/>
          </a:prstGeom>
          <a:solidFill>
            <a:srgbClr val="243166"/>
          </a:solidFill>
          <a:ln/>
          <a:effectLst>
            <a:outerShdw sx="100000" sy="100000" kx="0" ky="0" algn="bl" rotWithShape="0" blurRad="1524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49808"/>
            <a:ext cx="2724912" cy="54864"/>
          </a:xfrm>
          <a:prstGeom prst="rect">
            <a:avLst/>
          </a:prstGeom>
          <a:solidFill>
            <a:srgbClr val="E9883A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" y="859536"/>
            <a:ext cx="457200" cy="256032"/>
          </a:xfrm>
          <a:prstGeom prst="ellipse">
            <a:avLst/>
          </a:prstGeom>
          <a:solidFill>
            <a:srgbClr val="E9883A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85953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요청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859536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위치 결정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18872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프로젝트를 어디에 두시겠습니까?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1600200"/>
            <a:ext cx="250545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학위논문 1저자 챕터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방법론 예비연구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사이드 프로젝트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보류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" y="2724912"/>
            <a:ext cx="2505456" cy="18288"/>
          </a:xfrm>
          <a:prstGeom prst="rect">
            <a:avLst/>
          </a:prstGeom>
          <a:solidFill>
            <a:srgbClr val="E9883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2788920"/>
            <a:ext cx="2505456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9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미팅에서 받아야 하나:
</a:t>
            </a:r>
            <a:pPr indent="0" marL="0">
              <a:buNone/>
            </a:pPr>
            <a:r>
              <a:rPr lang="en-US" sz="950" dirty="0">
                <a:solidFill>
                  <a:srgbClr val="99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자원(시간·지도)을 어디까지 쓸 수 있는지가 이 결정에 달려있음. 이게 정해져야 Gate T와 scope를 정할 수 있음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18688" y="749808"/>
            <a:ext cx="2724912" cy="3090672"/>
          </a:xfrm>
          <a:prstGeom prst="rect">
            <a:avLst/>
          </a:prstGeom>
          <a:solidFill>
            <a:srgbClr val="243166"/>
          </a:solidFill>
          <a:ln/>
          <a:effectLst>
            <a:outerShdw sx="100000" sy="100000" kx="0" ky="0" algn="bl" rotWithShape="0" blurRad="1524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749808"/>
            <a:ext cx="2724912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Shape 13"/>
          <p:cNvSpPr/>
          <p:nvPr/>
        </p:nvSpPr>
        <p:spPr>
          <a:xfrm>
            <a:off x="3328416" y="859536"/>
            <a:ext cx="457200" cy="25603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3328416" y="85953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요청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58768" y="859536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72h Kill-test 진입 허가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28416" y="118872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 시작 사인을 주십시오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28416" y="1600200"/>
            <a:ext cx="250545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Gate P → Gate T 통과 후 D0 시작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IRB + 법무 D0에 병렬 발송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Kill-test script 즉시 실행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28416" y="2724912"/>
            <a:ext cx="2505456" cy="1828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3328416" y="2788920"/>
            <a:ext cx="2505456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미팅에서 받아야 하나:
</a:t>
            </a:r>
            <a:pPr indent="0" marL="0">
              <a:buNone/>
            </a:pPr>
            <a:r>
              <a:rPr lang="en-US" sz="950" dirty="0">
                <a:solidFill>
                  <a:srgbClr val="99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사인이 없으면 아무것도 시작할 수 없음. 프로젝트의 실질적 출발선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71616" y="749808"/>
            <a:ext cx="2724912" cy="3090672"/>
          </a:xfrm>
          <a:prstGeom prst="rect">
            <a:avLst/>
          </a:prstGeom>
          <a:solidFill>
            <a:srgbClr val="243166"/>
          </a:solidFill>
          <a:ln/>
          <a:effectLst>
            <a:outerShdw sx="100000" sy="100000" kx="0" ky="0" algn="bl" rotWithShape="0" blurRad="1524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71616" y="749808"/>
            <a:ext cx="2724912" cy="54864"/>
          </a:xfrm>
          <a:prstGeom prst="rect">
            <a:avLst/>
          </a:prstGeom>
          <a:solidFill>
            <a:srgbClr val="C678DD"/>
          </a:solidFill>
          <a:ln/>
        </p:spPr>
      </p:sp>
      <p:sp>
        <p:nvSpPr>
          <p:cNvPr id="24" name="Shape 22"/>
          <p:cNvSpPr/>
          <p:nvPr/>
        </p:nvSpPr>
        <p:spPr>
          <a:xfrm>
            <a:off x="6181344" y="859536"/>
            <a:ext cx="457200" cy="256032"/>
          </a:xfrm>
          <a:prstGeom prst="ellipse">
            <a:avLst/>
          </a:prstGeom>
          <a:solidFill>
            <a:srgbClr val="C678DD"/>
          </a:solidFill>
          <a:ln/>
        </p:spPr>
      </p:sp>
      <p:sp>
        <p:nvSpPr>
          <p:cNvPr id="25" name="Text 23"/>
          <p:cNvSpPr/>
          <p:nvPr/>
        </p:nvSpPr>
        <p:spPr>
          <a:xfrm>
            <a:off x="6181344" y="85953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요청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11696" y="859536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result → 챕터 가치 미리 확인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81344" y="118872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7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D가 null이어도 1저자 챕터로 인정되나요?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81344" y="1600200"/>
            <a:ext cx="250545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Atlas + Methodological Note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1저자 챕터 가능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또는 사이드 챕터 수준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→ PI 판단 명시적으로 기록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81344" y="2724912"/>
            <a:ext cx="2505456" cy="18288"/>
          </a:xfrm>
          <a:prstGeom prst="rect">
            <a:avLst/>
          </a:prstGeom>
          <a:solidFill>
            <a:srgbClr val="C678DD"/>
          </a:solidFill>
          <a:ln/>
        </p:spPr>
      </p:sp>
      <p:sp>
        <p:nvSpPr>
          <p:cNvPr id="30" name="Text 28"/>
          <p:cNvSpPr/>
          <p:nvPr/>
        </p:nvSpPr>
        <p:spPr>
          <a:xfrm>
            <a:off x="6181344" y="2788920"/>
            <a:ext cx="2505456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67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미팅에서 받아야 하나:
</a:t>
            </a:r>
            <a:pPr indent="0" marL="0">
              <a:buNone/>
            </a:pPr>
            <a:r>
              <a:rPr lang="en-US" sz="950" dirty="0">
                <a:solidFill>
                  <a:srgbClr val="99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시나리오에서 PhD 챕터 가치가 어느 수준인지를 D-1에 미리 받아두어야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9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 이후의 방향을 명확히 할 수 있음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395020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D-1 지금 바로 할 일 (우선순위 순)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429768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PI 1-page brief (Appendix A) 출력 → D-1 미팅에 지참하여 요청 3가지 받기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Gate T: rvinecopulib toy dataset으로 fit → simulate → 역변환(inverse transform) 실제 실행 성공 여부 확인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Edge subgroup 5개 PI 확인용 표시 → 미팅 후 즉시 P0_subgroup_lock.md에 기록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D0–D3 kill-test R script 뼈대 작성 → Gate T 통과 직후 바로 시작 가능 상태 유지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029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결론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1051560"/>
            <a:ext cx="8138160" cy="1874520"/>
          </a:xfrm>
          <a:prstGeom prst="rect">
            <a:avLst/>
          </a:prstGeom>
          <a:solidFill>
            <a:srgbClr val="243166"/>
          </a:solidFill>
          <a:ln/>
          <a:effectLst>
            <a:outerShdw sx="100000" sy="100000" kx="0" ky="0" algn="bl" rotWithShape="0" blurRad="1524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051560"/>
            <a:ext cx="8138160" cy="1874520"/>
          </a:xfrm>
          <a:prstGeom prst="rect">
            <a:avLst/>
          </a:prstGeom>
          <a:noFill/>
          <a:ln/>
        </p:spPr>
        <p:txBody>
          <a:bodyPr wrap="square" lIns="0" tIns="279400" rIns="27940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KoreanPKCov-Core v4.6은 "대형 DB 구축 계획"이 아니다.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72시간 안에 죽일 수 있는 핵심 가설을 먼저 검증하고,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살아남는 경우에만 한국인 공변량 엔진으로 확장하는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PI-ready 실행 SOP다.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063240"/>
            <a:ext cx="2606040" cy="685800"/>
          </a:xfrm>
          <a:prstGeom prst="rect">
            <a:avLst/>
          </a:prstGeom>
          <a:solidFill>
            <a:srgbClr val="24316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063240"/>
            <a:ext cx="260604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31729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왜 필요한가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" y="34472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재구축 가능한 한국인 공변량 엔진이 없다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29000" y="3063240"/>
            <a:ext cx="2606040" cy="685800"/>
          </a:xfrm>
          <a:prstGeom prst="rect">
            <a:avLst/>
          </a:prstGeom>
          <a:solidFill>
            <a:srgbClr val="243166"/>
          </a:solidFill>
          <a:ln/>
        </p:spPr>
      </p:sp>
      <p:sp>
        <p:nvSpPr>
          <p:cNvPr id="11" name="Shape 9"/>
          <p:cNvSpPr/>
          <p:nvPr/>
        </p:nvSpPr>
        <p:spPr>
          <a:xfrm>
            <a:off x="3429000" y="3063240"/>
            <a:ext cx="2606040" cy="64008"/>
          </a:xfrm>
          <a:prstGeom prst="rect">
            <a:avLst/>
          </a:prstGeom>
          <a:solidFill>
            <a:srgbClr val="E9883A"/>
          </a:solidFill>
          <a:ln/>
        </p:spPr>
      </p:sp>
      <p:sp>
        <p:nvSpPr>
          <p:cNvPr id="12" name="Text 10"/>
          <p:cNvSpPr/>
          <p:nvPr/>
        </p:nvSpPr>
        <p:spPr>
          <a:xfrm>
            <a:off x="3538728" y="31729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왜 될 것 같나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38728" y="34472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72h kill-test + Gate 구조로 위험을 사전 차단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3063240"/>
            <a:ext cx="2606040" cy="685800"/>
          </a:xfrm>
          <a:prstGeom prst="rect">
            <a:avLst/>
          </a:prstGeom>
          <a:solidFill>
            <a:srgbClr val="243166"/>
          </a:solidFill>
          <a:ln/>
        </p:spPr>
      </p:sp>
      <p:sp>
        <p:nvSpPr>
          <p:cNvPr id="15" name="Shape 13"/>
          <p:cNvSpPr/>
          <p:nvPr/>
        </p:nvSpPr>
        <p:spPr>
          <a:xfrm>
            <a:off x="6172200" y="3063240"/>
            <a:ext cx="2606040" cy="6400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31729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성공 임팩트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81928" y="34472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3-Layer: 인프라 → 방법론 → 임상 누적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" y="3867912"/>
            <a:ext cx="2606040" cy="685800"/>
          </a:xfrm>
          <a:prstGeom prst="rect">
            <a:avLst/>
          </a:prstGeom>
          <a:solidFill>
            <a:srgbClr val="243166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867912"/>
            <a:ext cx="2606040" cy="64008"/>
          </a:xfrm>
          <a:prstGeom prst="rect">
            <a:avLst/>
          </a:prstGeom>
          <a:solidFill>
            <a:srgbClr val="5B6FBF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39776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실패 방어선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5528" y="42519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null=출판 가능, Layer 1은 항상 생존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29000" y="3867912"/>
            <a:ext cx="2606040" cy="685800"/>
          </a:xfrm>
          <a:prstGeom prst="rect">
            <a:avLst/>
          </a:prstGeom>
          <a:solidFill>
            <a:srgbClr val="243166"/>
          </a:solidFill>
          <a:ln/>
        </p:spPr>
      </p:sp>
      <p:sp>
        <p:nvSpPr>
          <p:cNvPr id="23" name="Shape 21"/>
          <p:cNvSpPr/>
          <p:nvPr/>
        </p:nvSpPr>
        <p:spPr>
          <a:xfrm>
            <a:off x="3429000" y="3867912"/>
            <a:ext cx="260604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3538728" y="39776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다음 액션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38728" y="42519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P → T → D0 Kill-test 진입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85800" y="484632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KoreanPKCov-Core v4.6  ·  PIPET-Vault  ·  Gate P awaiting  ·  2026-04-25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KoreanPKCov-Core v4.6 — PI-ready Launch Playbook</dc:title>
  <dc:subject>PptxGenJS Presentation</dc:subject>
  <dc:creator>PptxGenJS</dc:creator>
  <cp:lastModifiedBy>PptxGenJS</cp:lastModifiedBy>
  <cp:revision>1</cp:revision>
  <dcterms:created xsi:type="dcterms:W3CDTF">2026-04-25T14:07:17Z</dcterms:created>
  <dcterms:modified xsi:type="dcterms:W3CDTF">2026-04-25T14:07:17Z</dcterms:modified>
</cp:coreProperties>
</file>